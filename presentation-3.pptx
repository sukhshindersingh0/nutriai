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463040"/>
            <a:ext cx="4754881" cy="4754880"/>
          </a:xfrm>
          <a:prstGeom prst="ellipse">
            <a:avLst/>
          </a:prstGeom>
          <a:solidFill>
            <a:srgbClr val="10281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10607040" y="4572000"/>
            <a:ext cx="3108961" cy="3108961"/>
          </a:xfrm>
          <a:prstGeom prst="ellipse">
            <a:avLst/>
          </a:prstGeom>
          <a:solidFill>
            <a:srgbClr val="74C69D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Text 2"/>
          <p:cNvSpPr txBox="1"/>
          <p:nvPr/>
        </p:nvSpPr>
        <p:spPr>
          <a:xfrm>
            <a:off x="822960" y="211117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300">
                <a:solidFill>
                  <a:srgbClr val="74C69D"/>
                </a:solidFill>
              </a:defRPr>
            </a:lvl1pPr>
          </a:lstStyle>
          <a:p>
            <a:r>
              <a:t>AI-POWERED NUTRITION PLATFORM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77240" y="2618739"/>
            <a:ext cx="96012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NutriPlan AI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60" y="3760410"/>
            <a:ext cx="7772401" cy="52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D8ECE1"/>
                </a:solidFill>
              </a:defRPr>
            </a:pPr>
            <a:r>
              <a:t>Personalized, AI-generated meal plans built on the MERN stack</a:t>
            </a:r>
          </a:p>
          <a:p>
            <a:pPr>
              <a:lnSpc>
                <a:spcPct val="130000"/>
              </a:lnSpc>
              <a:defRPr sz="1600">
                <a:solidFill>
                  <a:srgbClr val="D8ECE1"/>
                </a:solidFill>
              </a:defRPr>
            </a:pPr>
            <a:r>
              <a:t>with Google Gemini AI.</a:t>
            </a:r>
          </a:p>
        </p:txBody>
      </p:sp>
      <p:sp>
        <p:nvSpPr>
          <p:cNvPr id="25" name="Shape 5"/>
          <p:cNvSpPr/>
          <p:nvPr/>
        </p:nvSpPr>
        <p:spPr>
          <a:xfrm>
            <a:off x="822960" y="4709159"/>
            <a:ext cx="1463041" cy="1"/>
          </a:xfrm>
          <a:prstGeom prst="line">
            <a:avLst/>
          </a:prstGeom>
          <a:ln w="38100">
            <a:solidFill>
              <a:srgbClr val="FF6B3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" name="Text 6"/>
          <p:cNvSpPr txBox="1"/>
          <p:nvPr/>
        </p:nvSpPr>
        <p:spPr>
          <a:xfrm>
            <a:off x="822960" y="5037258"/>
            <a:ext cx="9144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Anjali Rani </a:t>
            </a:r>
            <a:r>
              <a:rPr b="0">
                <a:solidFill>
                  <a:srgbClr val="B9D6C5"/>
                </a:solidFill>
              </a:rPr>
              <a:t>• </a:t>
            </a:r>
            <a:r>
              <a:t>12216</a:t>
            </a:r>
            <a:r>
              <a:rPr b="0">
                <a:solidFill>
                  <a:srgbClr val="B9D6C5"/>
                </a:solidFill>
              </a:rPr>
              <a:t>  •   </a:t>
            </a:r>
            <a:r>
              <a:t>Asian Group Of Colleges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THE PROBLEM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548640" y="609091"/>
            <a:ext cx="868680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Manual diet planning doesn't scale to the individual</a:t>
            </a:r>
          </a:p>
        </p:txBody>
      </p:sp>
      <p:sp>
        <p:nvSpPr>
          <p:cNvPr id="31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miter lim="400000"/>
          </a:ln>
          <a:effectLst>
            <a:outerShdw blurRad="76200" dist="25400" dir="5400000" rotWithShape="0">
              <a:srgbClr val="1B433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2" name="Shape 3"/>
          <p:cNvSpPr/>
          <p:nvPr/>
        </p:nvSpPr>
        <p:spPr>
          <a:xfrm>
            <a:off x="777240" y="2240279"/>
            <a:ext cx="502921" cy="502921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ext 4"/>
          <p:cNvSpPr txBox="1"/>
          <p:nvPr/>
        </p:nvSpPr>
        <p:spPr>
          <a:xfrm>
            <a:off x="777240" y="2397059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34" name="Text 5"/>
          <p:cNvSpPr txBox="1"/>
          <p:nvPr/>
        </p:nvSpPr>
        <p:spPr>
          <a:xfrm>
            <a:off x="777240" y="3079749"/>
            <a:ext cx="214884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Generic charts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777240" y="4080971"/>
            <a:ext cx="2148840" cy="61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B63"/>
                </a:solidFill>
              </a:defRPr>
            </a:lvl1pPr>
          </a:lstStyle>
          <a:p>
            <a:r>
              <a:t>One-size-fits-all diet PDFs ignore age, weight, activity level, and goals.</a:t>
            </a:r>
          </a:p>
        </p:txBody>
      </p:sp>
      <p:sp>
        <p:nvSpPr>
          <p:cNvPr id="36" name="Shape 7"/>
          <p:cNvSpPr/>
          <p:nvPr/>
        </p:nvSpPr>
        <p:spPr>
          <a:xfrm>
            <a:off x="3410711" y="196596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miter lim="400000"/>
          </a:ln>
          <a:effectLst>
            <a:outerShdw blurRad="76200" dist="25400" dir="5400000" rotWithShape="0">
              <a:srgbClr val="1B433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" name="Shape 8"/>
          <p:cNvSpPr/>
          <p:nvPr/>
        </p:nvSpPr>
        <p:spPr>
          <a:xfrm>
            <a:off x="3639311" y="2240279"/>
            <a:ext cx="502921" cy="502921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Text 9"/>
          <p:cNvSpPr txBox="1"/>
          <p:nvPr/>
        </p:nvSpPr>
        <p:spPr>
          <a:xfrm>
            <a:off x="3639311" y="2397059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3639311" y="3079749"/>
            <a:ext cx="21488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Manual math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3639311" y="4080971"/>
            <a:ext cx="2148841" cy="61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B63"/>
                </a:solidFill>
              </a:defRPr>
            </a:lvl1pPr>
          </a:lstStyle>
          <a:p>
            <a:r>
              <a:t>Calculating BMR / TDEE and macro splits by hand is tedious and error-prone.</a:t>
            </a:r>
          </a:p>
        </p:txBody>
      </p:sp>
      <p:sp>
        <p:nvSpPr>
          <p:cNvPr id="41" name="Shape 12"/>
          <p:cNvSpPr/>
          <p:nvPr/>
        </p:nvSpPr>
        <p:spPr>
          <a:xfrm>
            <a:off x="6272784" y="196596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miter lim="400000"/>
          </a:ln>
          <a:effectLst>
            <a:outerShdw blurRad="76200" dist="25400" dir="5400000" rotWithShape="0">
              <a:srgbClr val="1B433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2" name="Shape 13"/>
          <p:cNvSpPr/>
          <p:nvPr/>
        </p:nvSpPr>
        <p:spPr>
          <a:xfrm>
            <a:off x="6501384" y="2240279"/>
            <a:ext cx="502921" cy="502921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14"/>
          <p:cNvSpPr txBox="1"/>
          <p:nvPr/>
        </p:nvSpPr>
        <p:spPr>
          <a:xfrm>
            <a:off x="6501384" y="2397059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6501384" y="3079749"/>
            <a:ext cx="21488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No memory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6501384" y="4080971"/>
            <a:ext cx="2148841" cy="61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B63"/>
                </a:solidFill>
              </a:defRPr>
            </a:lvl1pPr>
          </a:lstStyle>
          <a:p>
            <a:r>
              <a:t>Past plans aren't saved — users redo the same research every time.</a:t>
            </a:r>
          </a:p>
        </p:txBody>
      </p:sp>
      <p:sp>
        <p:nvSpPr>
          <p:cNvPr id="46" name="Shape 17"/>
          <p:cNvSpPr/>
          <p:nvPr/>
        </p:nvSpPr>
        <p:spPr>
          <a:xfrm>
            <a:off x="9134856" y="196596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miter lim="400000"/>
          </a:ln>
          <a:effectLst>
            <a:outerShdw blurRad="76200" dist="25400" dir="5400000" rotWithShape="0">
              <a:srgbClr val="1B433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7" name="Shape 18"/>
          <p:cNvSpPr/>
          <p:nvPr/>
        </p:nvSpPr>
        <p:spPr>
          <a:xfrm>
            <a:off x="9363456" y="2240279"/>
            <a:ext cx="502921" cy="502921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19"/>
          <p:cNvSpPr txBox="1"/>
          <p:nvPr/>
        </p:nvSpPr>
        <p:spPr>
          <a:xfrm>
            <a:off x="9363456" y="2397059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49" name="Text 20"/>
          <p:cNvSpPr txBox="1"/>
          <p:nvPr/>
        </p:nvSpPr>
        <p:spPr>
          <a:xfrm>
            <a:off x="9363456" y="3079749"/>
            <a:ext cx="21488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Expensive experts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9363456" y="4195829"/>
            <a:ext cx="2148841" cy="38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B63"/>
                </a:solidFill>
              </a:defRPr>
            </a:lvl1pPr>
          </a:lstStyle>
          <a:p>
            <a:r>
              <a:t>A real nutritionist consult is often the only personalized option.</a:t>
            </a:r>
          </a:p>
        </p:txBody>
      </p:sp>
      <p:sp>
        <p:nvSpPr>
          <p:cNvPr id="51" name="Text 22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74C69D"/>
                </a:solidFill>
              </a:defRPr>
            </a:lvl1pPr>
          </a:lstStyle>
          <a:p>
            <a:r>
              <a:t>THE SOLUTION</a:t>
            </a:r>
          </a:p>
        </p:txBody>
      </p:sp>
      <p:sp>
        <p:nvSpPr>
          <p:cNvPr id="54" name="Text 1"/>
          <p:cNvSpPr txBox="1"/>
          <p:nvPr/>
        </p:nvSpPr>
        <p:spPr>
          <a:xfrm>
            <a:off x="548640" y="844041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One profile in. A personalized meal plan out.</a:t>
            </a:r>
          </a:p>
        </p:txBody>
      </p:sp>
      <p:sp>
        <p:nvSpPr>
          <p:cNvPr id="55" name="Shape 2"/>
          <p:cNvSpPr/>
          <p:nvPr/>
        </p:nvSpPr>
        <p:spPr>
          <a:xfrm>
            <a:off x="548640" y="2103120"/>
            <a:ext cx="411481" cy="411481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Text 3"/>
          <p:cNvSpPr txBox="1"/>
          <p:nvPr/>
        </p:nvSpPr>
        <p:spPr>
          <a:xfrm>
            <a:off x="548640" y="2214180"/>
            <a:ext cx="411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57" name="Text 4"/>
          <p:cNvSpPr txBox="1"/>
          <p:nvPr/>
        </p:nvSpPr>
        <p:spPr>
          <a:xfrm>
            <a:off x="1142999" y="2227143"/>
            <a:ext cx="78638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Enter age, weight, height &amp; activity level once</a:t>
            </a:r>
          </a:p>
        </p:txBody>
      </p:sp>
      <p:sp>
        <p:nvSpPr>
          <p:cNvPr id="58" name="Shape 5"/>
          <p:cNvSpPr/>
          <p:nvPr/>
        </p:nvSpPr>
        <p:spPr>
          <a:xfrm>
            <a:off x="548640" y="2971800"/>
            <a:ext cx="411481" cy="411481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6"/>
          <p:cNvSpPr txBox="1"/>
          <p:nvPr/>
        </p:nvSpPr>
        <p:spPr>
          <a:xfrm>
            <a:off x="548640" y="3082860"/>
            <a:ext cx="411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60" name="Text 7"/>
          <p:cNvSpPr txBox="1"/>
          <p:nvPr/>
        </p:nvSpPr>
        <p:spPr>
          <a:xfrm>
            <a:off x="1142999" y="3095823"/>
            <a:ext cx="78638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Gemini AI generates a calorie- and macro-matched plan</a:t>
            </a:r>
          </a:p>
        </p:txBody>
      </p:sp>
      <p:sp>
        <p:nvSpPr>
          <p:cNvPr id="61" name="Shape 8"/>
          <p:cNvSpPr/>
          <p:nvPr/>
        </p:nvSpPr>
        <p:spPr>
          <a:xfrm>
            <a:off x="548640" y="3840479"/>
            <a:ext cx="411481" cy="411481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Text 9"/>
          <p:cNvSpPr txBox="1"/>
          <p:nvPr/>
        </p:nvSpPr>
        <p:spPr>
          <a:xfrm>
            <a:off x="548640" y="3951540"/>
            <a:ext cx="411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63" name="Text 10"/>
          <p:cNvSpPr txBox="1"/>
          <p:nvPr/>
        </p:nvSpPr>
        <p:spPr>
          <a:xfrm>
            <a:off x="1142999" y="3964503"/>
            <a:ext cx="78638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Every recipe comes with ingredients &amp; step-by-step instructions</a:t>
            </a:r>
          </a:p>
        </p:txBody>
      </p:sp>
      <p:sp>
        <p:nvSpPr>
          <p:cNvPr id="64" name="Shape 11"/>
          <p:cNvSpPr/>
          <p:nvPr/>
        </p:nvSpPr>
        <p:spPr>
          <a:xfrm>
            <a:off x="548640" y="4709159"/>
            <a:ext cx="411481" cy="411481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Text 12"/>
          <p:cNvSpPr txBox="1"/>
          <p:nvPr/>
        </p:nvSpPr>
        <p:spPr>
          <a:xfrm>
            <a:off x="548640" y="4820220"/>
            <a:ext cx="411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1142999" y="4833183"/>
            <a:ext cx="78638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Plans are saved automatically for later — full history, zero re-work</a:t>
            </a:r>
          </a:p>
        </p:txBody>
      </p:sp>
      <p:sp>
        <p:nvSpPr>
          <p:cNvPr id="67" name="Shape 14"/>
          <p:cNvSpPr/>
          <p:nvPr/>
        </p:nvSpPr>
        <p:spPr>
          <a:xfrm>
            <a:off x="9281159" y="2011679"/>
            <a:ext cx="2331721" cy="3200401"/>
          </a:xfrm>
          <a:prstGeom prst="roundRect">
            <a:avLst>
              <a:gd name="adj" fmla="val 3137"/>
            </a:avLst>
          </a:prstGeom>
          <a:solidFill>
            <a:srgbClr val="10281D"/>
          </a:solidFill>
          <a:ln w="12700">
            <a:solidFill>
              <a:srgbClr val="74C69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15"/>
          <p:cNvSpPr txBox="1"/>
          <p:nvPr/>
        </p:nvSpPr>
        <p:spPr>
          <a:xfrm>
            <a:off x="9281159" y="2409190"/>
            <a:ext cx="233172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74C69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MERN</a:t>
            </a:r>
          </a:p>
        </p:txBody>
      </p:sp>
      <p:sp>
        <p:nvSpPr>
          <p:cNvPr id="69" name="Text 16"/>
          <p:cNvSpPr txBox="1"/>
          <p:nvPr/>
        </p:nvSpPr>
        <p:spPr>
          <a:xfrm>
            <a:off x="9281159" y="2934138"/>
            <a:ext cx="2331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r>
              <a:t>+ Gemini AI</a:t>
            </a:r>
          </a:p>
        </p:txBody>
      </p:sp>
      <p:sp>
        <p:nvSpPr>
          <p:cNvPr id="70" name="Shape 17"/>
          <p:cNvSpPr/>
          <p:nvPr/>
        </p:nvSpPr>
        <p:spPr>
          <a:xfrm>
            <a:off x="9646919" y="3383279"/>
            <a:ext cx="1600201" cy="1"/>
          </a:xfrm>
          <a:prstGeom prst="line">
            <a:avLst/>
          </a:prstGeom>
          <a:ln w="12700">
            <a:solidFill>
              <a:srgbClr val="74C69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18"/>
          <p:cNvSpPr txBox="1"/>
          <p:nvPr/>
        </p:nvSpPr>
        <p:spPr>
          <a:xfrm>
            <a:off x="9281159" y="4100467"/>
            <a:ext cx="2331721" cy="394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D8ECE1"/>
                </a:solidFill>
              </a:defRPr>
            </a:pPr>
            <a:r>
              <a:t>Full-stack web app,</a:t>
            </a:r>
          </a:p>
          <a:p>
            <a:pPr algn="ctr">
              <a:lnSpc>
                <a:spcPct val="130000"/>
              </a:lnSpc>
              <a:defRPr sz="1200">
                <a:solidFill>
                  <a:srgbClr val="D8ECE1"/>
                </a:solidFill>
              </a:defRPr>
            </a:pPr>
            <a:r>
              <a:t>not a static template</a:t>
            </a:r>
          </a:p>
        </p:txBody>
      </p:sp>
      <p:sp>
        <p:nvSpPr>
          <p:cNvPr id="72" name="Text 19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ARCHITECTURE</a:t>
            </a:r>
          </a:p>
        </p:txBody>
      </p:sp>
      <p:sp>
        <p:nvSpPr>
          <p:cNvPr id="75" name="Text 1"/>
          <p:cNvSpPr txBox="1"/>
          <p:nvPr/>
        </p:nvSpPr>
        <p:spPr>
          <a:xfrm>
            <a:off x="548640" y="844041"/>
            <a:ext cx="86868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How the pieces connect</a:t>
            </a:r>
          </a:p>
        </p:txBody>
      </p:sp>
      <p:sp>
        <p:nvSpPr>
          <p:cNvPr id="76" name="Shape 2"/>
          <p:cNvSpPr/>
          <p:nvPr/>
        </p:nvSpPr>
        <p:spPr>
          <a:xfrm>
            <a:off x="548640" y="2377439"/>
            <a:ext cx="2880361" cy="1417321"/>
          </a:xfrm>
          <a:prstGeom prst="roundRect">
            <a:avLst>
              <a:gd name="adj" fmla="val 5161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" name="Text 3"/>
          <p:cNvSpPr txBox="1"/>
          <p:nvPr/>
        </p:nvSpPr>
        <p:spPr>
          <a:xfrm>
            <a:off x="731519" y="2597911"/>
            <a:ext cx="2514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0281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Frontend</a:t>
            </a:r>
          </a:p>
        </p:txBody>
      </p:sp>
      <p:sp>
        <p:nvSpPr>
          <p:cNvPr id="78" name="Text 4"/>
          <p:cNvSpPr txBox="1"/>
          <p:nvPr/>
        </p:nvSpPr>
        <p:spPr>
          <a:xfrm>
            <a:off x="731519" y="3076295"/>
            <a:ext cx="2514601" cy="33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0281D"/>
                </a:solidFill>
              </a:defRPr>
            </a:pPr>
            <a:r>
              <a:t>React + Vite</a:t>
            </a:r>
          </a:p>
          <a:p>
            <a:pPr>
              <a:lnSpc>
                <a:spcPct val="130000"/>
              </a:lnSpc>
              <a:defRPr sz="1100">
                <a:solidFill>
                  <a:srgbClr val="10281D"/>
                </a:solidFill>
              </a:defRPr>
            </a:pPr>
            <a:r>
              <a:t>Tailwind CSS · Context</a:t>
            </a:r>
          </a:p>
        </p:txBody>
      </p:sp>
      <p:sp>
        <p:nvSpPr>
          <p:cNvPr id="79" name="Text 5"/>
          <p:cNvSpPr txBox="1"/>
          <p:nvPr/>
        </p:nvSpPr>
        <p:spPr>
          <a:xfrm>
            <a:off x="731519" y="3845096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10281D"/>
                </a:solidFill>
              </a:defRPr>
            </a:lvl1pPr>
          </a:lstStyle>
          <a:p>
            <a:r>
              <a:t>Port 5173</a:t>
            </a:r>
          </a:p>
        </p:txBody>
      </p:sp>
      <p:sp>
        <p:nvSpPr>
          <p:cNvPr id="80" name="Shape 6"/>
          <p:cNvSpPr/>
          <p:nvPr/>
        </p:nvSpPr>
        <p:spPr>
          <a:xfrm>
            <a:off x="4617720" y="2377439"/>
            <a:ext cx="2880361" cy="1417321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7"/>
          <p:cNvSpPr txBox="1"/>
          <p:nvPr/>
        </p:nvSpPr>
        <p:spPr>
          <a:xfrm>
            <a:off x="4800600" y="2597911"/>
            <a:ext cx="25146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Backend API</a:t>
            </a:r>
          </a:p>
        </p:txBody>
      </p:sp>
      <p:sp>
        <p:nvSpPr>
          <p:cNvPr id="82" name="Text 8"/>
          <p:cNvSpPr txBox="1"/>
          <p:nvPr/>
        </p:nvSpPr>
        <p:spPr>
          <a:xfrm>
            <a:off x="4800600" y="3076295"/>
            <a:ext cx="2514600" cy="33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Node.js + Express</a:t>
            </a:r>
          </a:p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REST API</a:t>
            </a:r>
          </a:p>
        </p:txBody>
      </p:sp>
      <p:sp>
        <p:nvSpPr>
          <p:cNvPr id="83" name="Text 9"/>
          <p:cNvSpPr txBox="1"/>
          <p:nvPr/>
        </p:nvSpPr>
        <p:spPr>
          <a:xfrm>
            <a:off x="4800600" y="3845096"/>
            <a:ext cx="2514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FFFFFF"/>
                </a:solidFill>
              </a:defRPr>
            </a:lvl1pPr>
          </a:lstStyle>
          <a:p>
            <a:r>
              <a:t>Port 5001</a:t>
            </a:r>
          </a:p>
        </p:txBody>
      </p:sp>
      <p:sp>
        <p:nvSpPr>
          <p:cNvPr id="84" name="Shape 10"/>
          <p:cNvSpPr/>
          <p:nvPr/>
        </p:nvSpPr>
        <p:spPr>
          <a:xfrm>
            <a:off x="8319505" y="2360994"/>
            <a:ext cx="2880361" cy="1417321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11"/>
          <p:cNvSpPr txBox="1"/>
          <p:nvPr/>
        </p:nvSpPr>
        <p:spPr>
          <a:xfrm>
            <a:off x="8502384" y="2597911"/>
            <a:ext cx="2514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MongoDB</a:t>
            </a:r>
          </a:p>
        </p:txBody>
      </p:sp>
      <p:sp>
        <p:nvSpPr>
          <p:cNvPr id="86" name="Text 12"/>
          <p:cNvSpPr txBox="1"/>
          <p:nvPr/>
        </p:nvSpPr>
        <p:spPr>
          <a:xfrm>
            <a:off x="8502384" y="3076295"/>
            <a:ext cx="2514601" cy="33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Mongoose ODM</a:t>
            </a:r>
          </a:p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Users · Profiles · Plans</a:t>
            </a:r>
          </a:p>
        </p:txBody>
      </p:sp>
      <p:sp>
        <p:nvSpPr>
          <p:cNvPr id="87" name="Text 13"/>
          <p:cNvSpPr txBox="1"/>
          <p:nvPr/>
        </p:nvSpPr>
        <p:spPr>
          <a:xfrm>
            <a:off x="8869680" y="3845096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FFFFFF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88" name="Shape 14"/>
          <p:cNvSpPr/>
          <p:nvPr/>
        </p:nvSpPr>
        <p:spPr>
          <a:xfrm>
            <a:off x="3474720" y="2976372"/>
            <a:ext cx="274321" cy="21945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6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5"/>
          <p:cNvSpPr/>
          <p:nvPr/>
        </p:nvSpPr>
        <p:spPr>
          <a:xfrm>
            <a:off x="7543800" y="2976372"/>
            <a:ext cx="274321" cy="21945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6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Shape 16"/>
          <p:cNvSpPr/>
          <p:nvPr/>
        </p:nvSpPr>
        <p:spPr>
          <a:xfrm>
            <a:off x="4617720" y="4343400"/>
            <a:ext cx="2880361" cy="1051561"/>
          </a:xfrm>
          <a:prstGeom prst="roundRect">
            <a:avLst>
              <a:gd name="adj" fmla="val 6957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Text 17"/>
          <p:cNvSpPr txBox="1"/>
          <p:nvPr/>
        </p:nvSpPr>
        <p:spPr>
          <a:xfrm>
            <a:off x="4800600" y="4555489"/>
            <a:ext cx="25146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Google Gemini AI</a:t>
            </a:r>
          </a:p>
        </p:txBody>
      </p:sp>
      <p:sp>
        <p:nvSpPr>
          <p:cNvPr id="92" name="Text 18"/>
          <p:cNvSpPr txBox="1"/>
          <p:nvPr/>
        </p:nvSpPr>
        <p:spPr>
          <a:xfrm>
            <a:off x="4800600" y="5035218"/>
            <a:ext cx="25146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FFFFFF"/>
                </a:solidFill>
              </a:defRPr>
            </a:lvl1pPr>
          </a:lstStyle>
          <a:p>
            <a:r>
              <a:t>Generates the structured JSON meal plan</a:t>
            </a:r>
          </a:p>
        </p:txBody>
      </p:sp>
      <p:sp>
        <p:nvSpPr>
          <p:cNvPr id="93" name="Shape 19"/>
          <p:cNvSpPr/>
          <p:nvPr/>
        </p:nvSpPr>
        <p:spPr>
          <a:xfrm rot="10800000">
            <a:off x="5948171" y="4050791"/>
            <a:ext cx="219457" cy="274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8640"/>
                </a:moveTo>
                <a:lnTo>
                  <a:pt x="10800" y="0"/>
                </a:lnTo>
                <a:lnTo>
                  <a:pt x="21600" y="8640"/>
                </a:lnTo>
                <a:lnTo>
                  <a:pt x="16200" y="8640"/>
                </a:lnTo>
                <a:lnTo>
                  <a:pt x="16200" y="21600"/>
                </a:lnTo>
                <a:lnTo>
                  <a:pt x="5400" y="21600"/>
                </a:lnTo>
                <a:lnTo>
                  <a:pt x="5400" y="8640"/>
                </a:lnTo>
                <a:close/>
              </a:path>
            </a:pathLst>
          </a:custGeom>
          <a:solidFill>
            <a:srgbClr val="5B6B6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Text 20"/>
          <p:cNvSpPr txBox="1"/>
          <p:nvPr/>
        </p:nvSpPr>
        <p:spPr>
          <a:xfrm>
            <a:off x="548639" y="5814498"/>
            <a:ext cx="11064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rgbClr val="5B6B63"/>
                </a:solidFill>
              </a:defRPr>
            </a:lvl1pPr>
          </a:lstStyle>
          <a:p>
            <a:r>
              <a:t>Frontend calls the API → API asks Gemini for a plan → API saves it in MongoDB → response flows back to the UI.</a:t>
            </a:r>
          </a:p>
        </p:txBody>
      </p:sp>
      <p:sp>
        <p:nvSpPr>
          <p:cNvPr id="95" name="Text 21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TECHNOLOGY STACK</a:t>
            </a:r>
          </a:p>
        </p:txBody>
      </p:sp>
      <p:sp>
        <p:nvSpPr>
          <p:cNvPr id="98" name="Text 1"/>
          <p:cNvSpPr txBox="1"/>
          <p:nvPr/>
        </p:nvSpPr>
        <p:spPr>
          <a:xfrm>
            <a:off x="548640" y="844041"/>
            <a:ext cx="86868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Built end-to-end on the MERN stack</a:t>
            </a:r>
          </a:p>
        </p:txBody>
      </p:sp>
      <p:sp>
        <p:nvSpPr>
          <p:cNvPr id="99" name="Shape 2"/>
          <p:cNvSpPr/>
          <p:nvPr/>
        </p:nvSpPr>
        <p:spPr>
          <a:xfrm>
            <a:off x="502919" y="196596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0" name="Shape 3"/>
          <p:cNvSpPr/>
          <p:nvPr/>
        </p:nvSpPr>
        <p:spPr>
          <a:xfrm>
            <a:off x="704087" y="216712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4"/>
          <p:cNvSpPr txBox="1"/>
          <p:nvPr/>
        </p:nvSpPr>
        <p:spPr>
          <a:xfrm>
            <a:off x="704087" y="229115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02" name="Text 5"/>
          <p:cNvSpPr txBox="1"/>
          <p:nvPr/>
        </p:nvSpPr>
        <p:spPr>
          <a:xfrm>
            <a:off x="1325880" y="2205481"/>
            <a:ext cx="26060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React + Vite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704087" y="3018966"/>
            <a:ext cx="32095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Component-based UI, fast dev server &amp; hot reload</a:t>
            </a:r>
          </a:p>
        </p:txBody>
      </p:sp>
      <p:sp>
        <p:nvSpPr>
          <p:cNvPr id="104" name="Shape 7"/>
          <p:cNvSpPr/>
          <p:nvPr/>
        </p:nvSpPr>
        <p:spPr>
          <a:xfrm>
            <a:off x="4297679" y="196596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5" name="Shape 8"/>
          <p:cNvSpPr/>
          <p:nvPr/>
        </p:nvSpPr>
        <p:spPr>
          <a:xfrm>
            <a:off x="4498847" y="216712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9"/>
          <p:cNvSpPr txBox="1"/>
          <p:nvPr/>
        </p:nvSpPr>
        <p:spPr>
          <a:xfrm>
            <a:off x="4498847" y="229115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07" name="Text 10"/>
          <p:cNvSpPr txBox="1"/>
          <p:nvPr/>
        </p:nvSpPr>
        <p:spPr>
          <a:xfrm>
            <a:off x="5120640" y="2205481"/>
            <a:ext cx="26060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Tailwind CSS</a:t>
            </a:r>
          </a:p>
        </p:txBody>
      </p:sp>
      <p:sp>
        <p:nvSpPr>
          <p:cNvPr id="108" name="Text 11"/>
          <p:cNvSpPr txBox="1"/>
          <p:nvPr/>
        </p:nvSpPr>
        <p:spPr>
          <a:xfrm>
            <a:off x="4498847" y="3018966"/>
            <a:ext cx="32095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Utility-first styling, custom .glass-card design</a:t>
            </a:r>
          </a:p>
        </p:txBody>
      </p:sp>
      <p:sp>
        <p:nvSpPr>
          <p:cNvPr id="109" name="Shape 12"/>
          <p:cNvSpPr/>
          <p:nvPr/>
        </p:nvSpPr>
        <p:spPr>
          <a:xfrm>
            <a:off x="8092440" y="196596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0" name="Shape 13"/>
          <p:cNvSpPr/>
          <p:nvPr/>
        </p:nvSpPr>
        <p:spPr>
          <a:xfrm>
            <a:off x="8293607" y="216712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4"/>
          <p:cNvSpPr txBox="1"/>
          <p:nvPr/>
        </p:nvSpPr>
        <p:spPr>
          <a:xfrm>
            <a:off x="8293607" y="229115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8915400" y="2205481"/>
            <a:ext cx="26060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Node.js + Express</a:t>
            </a:r>
          </a:p>
        </p:txBody>
      </p:sp>
      <p:sp>
        <p:nvSpPr>
          <p:cNvPr id="113" name="Text 16"/>
          <p:cNvSpPr txBox="1"/>
          <p:nvPr/>
        </p:nvSpPr>
        <p:spPr>
          <a:xfrm>
            <a:off x="8293607" y="3018966"/>
            <a:ext cx="32095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RESTful API layer connecting client to data &amp; AI</a:t>
            </a:r>
          </a:p>
        </p:txBody>
      </p:sp>
      <p:sp>
        <p:nvSpPr>
          <p:cNvPr id="114" name="Shape 17"/>
          <p:cNvSpPr/>
          <p:nvPr/>
        </p:nvSpPr>
        <p:spPr>
          <a:xfrm>
            <a:off x="502919" y="365760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5" name="Shape 18"/>
          <p:cNvSpPr/>
          <p:nvPr/>
        </p:nvSpPr>
        <p:spPr>
          <a:xfrm>
            <a:off x="704087" y="385876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Text 19"/>
          <p:cNvSpPr txBox="1"/>
          <p:nvPr/>
        </p:nvSpPr>
        <p:spPr>
          <a:xfrm>
            <a:off x="704087" y="398279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17" name="Text 20"/>
          <p:cNvSpPr txBox="1"/>
          <p:nvPr/>
        </p:nvSpPr>
        <p:spPr>
          <a:xfrm>
            <a:off x="1325880" y="3897121"/>
            <a:ext cx="26060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MongoDB + Mongoose</a:t>
            </a:r>
          </a:p>
        </p:txBody>
      </p:sp>
      <p:sp>
        <p:nvSpPr>
          <p:cNvPr id="118" name="Text 21"/>
          <p:cNvSpPr txBox="1"/>
          <p:nvPr/>
        </p:nvSpPr>
        <p:spPr>
          <a:xfrm>
            <a:off x="704087" y="4710606"/>
            <a:ext cx="320954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Flexible schema for users, profiles &amp; JSON meal plans</a:t>
            </a:r>
          </a:p>
        </p:txBody>
      </p:sp>
      <p:sp>
        <p:nvSpPr>
          <p:cNvPr id="119" name="Shape 22"/>
          <p:cNvSpPr/>
          <p:nvPr/>
        </p:nvSpPr>
        <p:spPr>
          <a:xfrm>
            <a:off x="4297679" y="365760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0" name="Shape 23"/>
          <p:cNvSpPr/>
          <p:nvPr/>
        </p:nvSpPr>
        <p:spPr>
          <a:xfrm>
            <a:off x="4498847" y="385876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24"/>
          <p:cNvSpPr txBox="1"/>
          <p:nvPr/>
        </p:nvSpPr>
        <p:spPr>
          <a:xfrm>
            <a:off x="4498847" y="398279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122" name="Text 25"/>
          <p:cNvSpPr txBox="1"/>
          <p:nvPr/>
        </p:nvSpPr>
        <p:spPr>
          <a:xfrm>
            <a:off x="5120640" y="3897121"/>
            <a:ext cx="26060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Google Gemini AI</a:t>
            </a:r>
          </a:p>
        </p:txBody>
      </p:sp>
      <p:sp>
        <p:nvSpPr>
          <p:cNvPr id="123" name="Text 26"/>
          <p:cNvSpPr txBox="1"/>
          <p:nvPr/>
        </p:nvSpPr>
        <p:spPr>
          <a:xfrm>
            <a:off x="4498847" y="4710606"/>
            <a:ext cx="320954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Gemini 3.1 Flash Lite generates structured meal plans</a:t>
            </a:r>
          </a:p>
        </p:txBody>
      </p:sp>
      <p:sp>
        <p:nvSpPr>
          <p:cNvPr id="124" name="Shape 27"/>
          <p:cNvSpPr/>
          <p:nvPr/>
        </p:nvSpPr>
        <p:spPr>
          <a:xfrm>
            <a:off x="8092440" y="3657600"/>
            <a:ext cx="3611881" cy="1508761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5" name="Shape 28"/>
          <p:cNvSpPr/>
          <p:nvPr/>
        </p:nvSpPr>
        <p:spPr>
          <a:xfrm>
            <a:off x="8293607" y="3858767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Text 29"/>
          <p:cNvSpPr txBox="1"/>
          <p:nvPr/>
        </p:nvSpPr>
        <p:spPr>
          <a:xfrm>
            <a:off x="8293607" y="3982791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127" name="Text 30"/>
          <p:cNvSpPr txBox="1"/>
          <p:nvPr/>
        </p:nvSpPr>
        <p:spPr>
          <a:xfrm>
            <a:off x="8915400" y="3897121"/>
            <a:ext cx="26060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JWT Auth</a:t>
            </a:r>
          </a:p>
        </p:txBody>
      </p:sp>
      <p:sp>
        <p:nvSpPr>
          <p:cNvPr id="128" name="Text 31"/>
          <p:cNvSpPr txBox="1"/>
          <p:nvPr/>
        </p:nvSpPr>
        <p:spPr>
          <a:xfrm>
            <a:off x="8293607" y="4710606"/>
            <a:ext cx="320954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5B6B63"/>
                </a:solidFill>
              </a:defRPr>
            </a:lvl1pPr>
          </a:lstStyle>
          <a:p>
            <a:r>
              <a:t>Stateless, token-based secure authentication</a:t>
            </a:r>
          </a:p>
        </p:txBody>
      </p:sp>
      <p:sp>
        <p:nvSpPr>
          <p:cNvPr id="129" name="Text 32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05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CORE FLOW</a:t>
            </a:r>
          </a:p>
        </p:txBody>
      </p:sp>
      <p:sp>
        <p:nvSpPr>
          <p:cNvPr id="132" name="Text 1"/>
          <p:cNvSpPr txBox="1"/>
          <p:nvPr/>
        </p:nvSpPr>
        <p:spPr>
          <a:xfrm>
            <a:off x="329183" y="741564"/>
            <a:ext cx="868680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'Generate Plan' — from click to rendered meal plan</a:t>
            </a:r>
          </a:p>
        </p:txBody>
      </p:sp>
      <p:sp>
        <p:nvSpPr>
          <p:cNvPr id="133" name="Shape 2"/>
          <p:cNvSpPr/>
          <p:nvPr/>
        </p:nvSpPr>
        <p:spPr>
          <a:xfrm>
            <a:off x="502919" y="196596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Shape 3"/>
          <p:cNvSpPr/>
          <p:nvPr/>
        </p:nvSpPr>
        <p:spPr>
          <a:xfrm>
            <a:off x="685800" y="2148839"/>
            <a:ext cx="384048" cy="384049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4"/>
          <p:cNvSpPr txBox="1"/>
          <p:nvPr/>
        </p:nvSpPr>
        <p:spPr>
          <a:xfrm>
            <a:off x="685800" y="2246184"/>
            <a:ext cx="3840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36" name="Text 5"/>
          <p:cNvSpPr txBox="1"/>
          <p:nvPr/>
        </p:nvSpPr>
        <p:spPr>
          <a:xfrm>
            <a:off x="1188719" y="224561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User submits profile</a:t>
            </a:r>
          </a:p>
        </p:txBody>
      </p:sp>
      <p:sp>
        <p:nvSpPr>
          <p:cNvPr id="137" name="Text 6"/>
          <p:cNvSpPr txBox="1"/>
          <p:nvPr/>
        </p:nvSpPr>
        <p:spPr>
          <a:xfrm>
            <a:off x="704087" y="2903019"/>
            <a:ext cx="320954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UserInputForm.jsx triggers onSubmit; DietContext posts to /api/profile</a:t>
            </a:r>
          </a:p>
        </p:txBody>
      </p:sp>
      <p:sp>
        <p:nvSpPr>
          <p:cNvPr id="138" name="Shape 7"/>
          <p:cNvSpPr/>
          <p:nvPr/>
        </p:nvSpPr>
        <p:spPr>
          <a:xfrm>
            <a:off x="4133088" y="2660904"/>
            <a:ext cx="146305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hape 8"/>
          <p:cNvSpPr/>
          <p:nvPr/>
        </p:nvSpPr>
        <p:spPr>
          <a:xfrm>
            <a:off x="4297679" y="196596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hape 9"/>
          <p:cNvSpPr/>
          <p:nvPr/>
        </p:nvSpPr>
        <p:spPr>
          <a:xfrm>
            <a:off x="4480559" y="2148839"/>
            <a:ext cx="384049" cy="384049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ext 10"/>
          <p:cNvSpPr txBox="1"/>
          <p:nvPr/>
        </p:nvSpPr>
        <p:spPr>
          <a:xfrm>
            <a:off x="4480559" y="2246184"/>
            <a:ext cx="3840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42" name="Text 11"/>
          <p:cNvSpPr txBox="1"/>
          <p:nvPr/>
        </p:nvSpPr>
        <p:spPr>
          <a:xfrm>
            <a:off x="4983479" y="224561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Request generation</a:t>
            </a:r>
          </a:p>
        </p:txBody>
      </p:sp>
      <p:sp>
        <p:nvSpPr>
          <p:cNvPr id="143" name="Text 12"/>
          <p:cNvSpPr txBox="1"/>
          <p:nvPr/>
        </p:nvSpPr>
        <p:spPr>
          <a:xfrm>
            <a:off x="4498847" y="2999276"/>
            <a:ext cx="320954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DietContext.jsx calls POST /api/mealplans/generate</a:t>
            </a:r>
          </a:p>
        </p:txBody>
      </p:sp>
      <p:sp>
        <p:nvSpPr>
          <p:cNvPr id="144" name="Shape 13"/>
          <p:cNvSpPr/>
          <p:nvPr/>
        </p:nvSpPr>
        <p:spPr>
          <a:xfrm>
            <a:off x="7927847" y="2660904"/>
            <a:ext cx="146305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Shape 14"/>
          <p:cNvSpPr/>
          <p:nvPr/>
        </p:nvSpPr>
        <p:spPr>
          <a:xfrm>
            <a:off x="8092440" y="196596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Shape 15"/>
          <p:cNvSpPr/>
          <p:nvPr/>
        </p:nvSpPr>
        <p:spPr>
          <a:xfrm>
            <a:off x="8275319" y="2148839"/>
            <a:ext cx="384049" cy="384049"/>
          </a:xfrm>
          <a:prstGeom prst="ellipse">
            <a:avLst/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16"/>
          <p:cNvSpPr txBox="1"/>
          <p:nvPr/>
        </p:nvSpPr>
        <p:spPr>
          <a:xfrm>
            <a:off x="8275319" y="2246184"/>
            <a:ext cx="3840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48" name="Text 17"/>
          <p:cNvSpPr txBox="1"/>
          <p:nvPr/>
        </p:nvSpPr>
        <p:spPr>
          <a:xfrm>
            <a:off x="8778240" y="224561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Controller fetches profile</a:t>
            </a:r>
          </a:p>
        </p:txBody>
      </p:sp>
      <p:sp>
        <p:nvSpPr>
          <p:cNvPr id="149" name="Text 18"/>
          <p:cNvSpPr txBox="1"/>
          <p:nvPr/>
        </p:nvSpPr>
        <p:spPr>
          <a:xfrm>
            <a:off x="8293607" y="2999276"/>
            <a:ext cx="320954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mealPlanController.js reads saved calorie/macro targets</a:t>
            </a:r>
          </a:p>
        </p:txBody>
      </p:sp>
      <p:sp>
        <p:nvSpPr>
          <p:cNvPr id="150" name="Shape 19"/>
          <p:cNvSpPr/>
          <p:nvPr/>
        </p:nvSpPr>
        <p:spPr>
          <a:xfrm>
            <a:off x="502919" y="374904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9F2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Shape 20"/>
          <p:cNvSpPr/>
          <p:nvPr/>
        </p:nvSpPr>
        <p:spPr>
          <a:xfrm>
            <a:off x="685800" y="3931920"/>
            <a:ext cx="384048" cy="384049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ext 21"/>
          <p:cNvSpPr txBox="1"/>
          <p:nvPr/>
        </p:nvSpPr>
        <p:spPr>
          <a:xfrm>
            <a:off x="685800" y="4029264"/>
            <a:ext cx="3840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53" name="Text 22"/>
          <p:cNvSpPr txBox="1"/>
          <p:nvPr/>
        </p:nvSpPr>
        <p:spPr>
          <a:xfrm>
            <a:off x="1188719" y="402869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Gemini builds the plan</a:t>
            </a:r>
          </a:p>
        </p:txBody>
      </p:sp>
      <p:sp>
        <p:nvSpPr>
          <p:cNvPr id="154" name="Text 23"/>
          <p:cNvSpPr txBox="1"/>
          <p:nvPr/>
        </p:nvSpPr>
        <p:spPr>
          <a:xfrm>
            <a:off x="704087" y="4782356"/>
            <a:ext cx="320954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utils/api.js prompts Gemini for strict JSON output</a:t>
            </a:r>
          </a:p>
        </p:txBody>
      </p:sp>
      <p:sp>
        <p:nvSpPr>
          <p:cNvPr id="155" name="Shape 24"/>
          <p:cNvSpPr/>
          <p:nvPr/>
        </p:nvSpPr>
        <p:spPr>
          <a:xfrm>
            <a:off x="4133088" y="4443984"/>
            <a:ext cx="146305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Shape 25"/>
          <p:cNvSpPr/>
          <p:nvPr/>
        </p:nvSpPr>
        <p:spPr>
          <a:xfrm>
            <a:off x="4297679" y="374904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9F2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Shape 26"/>
          <p:cNvSpPr/>
          <p:nvPr/>
        </p:nvSpPr>
        <p:spPr>
          <a:xfrm>
            <a:off x="4480559" y="3931920"/>
            <a:ext cx="384049" cy="384049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27"/>
          <p:cNvSpPr txBox="1"/>
          <p:nvPr/>
        </p:nvSpPr>
        <p:spPr>
          <a:xfrm>
            <a:off x="4480559" y="4029264"/>
            <a:ext cx="3840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159" name="Text 28"/>
          <p:cNvSpPr txBox="1"/>
          <p:nvPr/>
        </p:nvSpPr>
        <p:spPr>
          <a:xfrm>
            <a:off x="4983479" y="402869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Enrich with images</a:t>
            </a:r>
          </a:p>
        </p:txBody>
      </p:sp>
      <p:sp>
        <p:nvSpPr>
          <p:cNvPr id="160" name="Text 29"/>
          <p:cNvSpPr txBox="1"/>
          <p:nvPr/>
        </p:nvSpPr>
        <p:spPr>
          <a:xfrm>
            <a:off x="4498847" y="4686099"/>
            <a:ext cx="320954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Meals are matched to food images (Unsplash, Spoonacular fallback)</a:t>
            </a:r>
          </a:p>
        </p:txBody>
      </p:sp>
      <p:sp>
        <p:nvSpPr>
          <p:cNvPr id="161" name="Shape 30"/>
          <p:cNvSpPr/>
          <p:nvPr/>
        </p:nvSpPr>
        <p:spPr>
          <a:xfrm>
            <a:off x="7927847" y="4443984"/>
            <a:ext cx="146305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Shape 31"/>
          <p:cNvSpPr/>
          <p:nvPr/>
        </p:nvSpPr>
        <p:spPr>
          <a:xfrm>
            <a:off x="8092440" y="3749040"/>
            <a:ext cx="3611881" cy="1554481"/>
          </a:xfrm>
          <a:prstGeom prst="roundRect">
            <a:avLst>
              <a:gd name="adj" fmla="val 4118"/>
            </a:avLst>
          </a:prstGeom>
          <a:solidFill>
            <a:srgbClr val="E9F2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Shape 32"/>
          <p:cNvSpPr/>
          <p:nvPr/>
        </p:nvSpPr>
        <p:spPr>
          <a:xfrm>
            <a:off x="8275319" y="3931920"/>
            <a:ext cx="384049" cy="384049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xt 33"/>
          <p:cNvSpPr txBox="1"/>
          <p:nvPr/>
        </p:nvSpPr>
        <p:spPr>
          <a:xfrm>
            <a:off x="8275319" y="4029264"/>
            <a:ext cx="3840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165" name="Text 34"/>
          <p:cNvSpPr txBox="1"/>
          <p:nvPr/>
        </p:nvSpPr>
        <p:spPr>
          <a:xfrm>
            <a:off x="8778240" y="4028694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Save &amp; render</a:t>
            </a:r>
          </a:p>
        </p:txBody>
      </p:sp>
      <p:sp>
        <p:nvSpPr>
          <p:cNvPr id="166" name="Text 35"/>
          <p:cNvSpPr txBox="1"/>
          <p:nvPr/>
        </p:nvSpPr>
        <p:spPr>
          <a:xfrm>
            <a:off x="8293607" y="4686099"/>
            <a:ext cx="320954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Plan saved to MongoDB, returned to MealPlans.jsx via RecipeCard.jsx</a:t>
            </a:r>
          </a:p>
        </p:txBody>
      </p:sp>
      <p:sp>
        <p:nvSpPr>
          <p:cNvPr id="167" name="Text 36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PROJECT STRUCTURE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548640" y="844041"/>
            <a:ext cx="86868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Frontend &amp; backend, cleanly separated</a:t>
            </a:r>
          </a:p>
        </p:txBody>
      </p:sp>
      <p:sp>
        <p:nvSpPr>
          <p:cNvPr id="171" name="Shape 2"/>
          <p:cNvSpPr/>
          <p:nvPr/>
        </p:nvSpPr>
        <p:spPr>
          <a:xfrm>
            <a:off x="502919" y="1965960"/>
            <a:ext cx="5394961" cy="416052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2" name="Shape 3"/>
          <p:cNvSpPr/>
          <p:nvPr/>
        </p:nvSpPr>
        <p:spPr>
          <a:xfrm>
            <a:off x="502919" y="1965960"/>
            <a:ext cx="5394961" cy="502921"/>
          </a:xfrm>
          <a:prstGeom prst="roundRect">
            <a:avLst>
              <a:gd name="adj" fmla="val 12727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Text 4"/>
          <p:cNvSpPr txBox="1"/>
          <p:nvPr/>
        </p:nvSpPr>
        <p:spPr>
          <a:xfrm>
            <a:off x="731519" y="2109469"/>
            <a:ext cx="493776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0281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FRONTEND  —  src/</a:t>
            </a:r>
          </a:p>
        </p:txBody>
      </p:sp>
      <p:sp>
        <p:nvSpPr>
          <p:cNvPr id="174" name="Text 5"/>
          <p:cNvSpPr txBox="1"/>
          <p:nvPr/>
        </p:nvSpPr>
        <p:spPr>
          <a:xfrm>
            <a:off x="731519" y="2870507"/>
            <a:ext cx="4937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App.jsx  </a:t>
            </a:r>
            <a:r>
              <a:rPr b="0">
                <a:solidFill>
                  <a:srgbClr val="5B6B63"/>
                </a:solidFill>
              </a:rPr>
              <a:t>Router + global Context providers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731519" y="3556307"/>
            <a:ext cx="4937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/pages/  </a:t>
            </a:r>
            <a:r>
              <a:rPr b="0">
                <a:solidFill>
                  <a:srgbClr val="5B6B63"/>
                </a:solidFill>
              </a:rPr>
              <a:t>Home, Dashboard, MealPlans, History, Login, Signup</a:t>
            </a:r>
          </a:p>
        </p:txBody>
      </p:sp>
      <p:sp>
        <p:nvSpPr>
          <p:cNvPr id="176" name="Text 7"/>
          <p:cNvSpPr txBox="1"/>
          <p:nvPr/>
        </p:nvSpPr>
        <p:spPr>
          <a:xfrm>
            <a:off x="731519" y="4131170"/>
            <a:ext cx="4937762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/components/  </a:t>
            </a:r>
            <a:r>
              <a:rPr b="0">
                <a:solidFill>
                  <a:srgbClr val="5B6B63"/>
                </a:solidFill>
              </a:rPr>
              <a:t>Header, UserInputForm, CalorieDisplay, RecipeCard, RecipeModal</a:t>
            </a:r>
          </a:p>
        </p:txBody>
      </p:sp>
      <p:sp>
        <p:nvSpPr>
          <p:cNvPr id="177" name="Text 8"/>
          <p:cNvSpPr txBox="1"/>
          <p:nvPr/>
        </p:nvSpPr>
        <p:spPr>
          <a:xfrm>
            <a:off x="731519" y="4927907"/>
            <a:ext cx="4937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/context/  </a:t>
            </a:r>
            <a:r>
              <a:rPr b="0">
                <a:solidFill>
                  <a:srgbClr val="5B6B63"/>
                </a:solidFill>
              </a:rPr>
              <a:t>AuthContext (JWT/login), DietContext (plan &amp; metrics)</a:t>
            </a:r>
          </a:p>
        </p:txBody>
      </p:sp>
      <p:sp>
        <p:nvSpPr>
          <p:cNvPr id="178" name="Text 9"/>
          <p:cNvSpPr txBox="1"/>
          <p:nvPr/>
        </p:nvSpPr>
        <p:spPr>
          <a:xfrm>
            <a:off x="731519" y="5613707"/>
            <a:ext cx="4937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index.css  </a:t>
            </a:r>
            <a:r>
              <a:rPr b="0">
                <a:solidFill>
                  <a:srgbClr val="5B6B63"/>
                </a:solidFill>
              </a:rPr>
              <a:t>Global styles incl. .glass-card</a:t>
            </a:r>
          </a:p>
        </p:txBody>
      </p:sp>
      <p:sp>
        <p:nvSpPr>
          <p:cNvPr id="179" name="Shape 10"/>
          <p:cNvSpPr/>
          <p:nvPr/>
        </p:nvSpPr>
        <p:spPr>
          <a:xfrm>
            <a:off x="6263640" y="1965960"/>
            <a:ext cx="5394960" cy="416052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miter lim="400000"/>
          </a:ln>
          <a:effectLst>
            <a:outerShdw blurRad="63500" dist="25400" dir="5400000" rotWithShape="0">
              <a:srgbClr val="1B4332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80" name="Shape 11"/>
          <p:cNvSpPr/>
          <p:nvPr/>
        </p:nvSpPr>
        <p:spPr>
          <a:xfrm>
            <a:off x="6263640" y="1965960"/>
            <a:ext cx="5394960" cy="502921"/>
          </a:xfrm>
          <a:prstGeom prst="roundRect">
            <a:avLst>
              <a:gd name="adj" fmla="val 12727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Text 12"/>
          <p:cNvSpPr txBox="1"/>
          <p:nvPr/>
        </p:nvSpPr>
        <p:spPr>
          <a:xfrm>
            <a:off x="6492240" y="2109469"/>
            <a:ext cx="49377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BACKEND  —  server/</a:t>
            </a:r>
          </a:p>
        </p:txBody>
      </p:sp>
      <p:sp>
        <p:nvSpPr>
          <p:cNvPr id="182" name="Text 13"/>
          <p:cNvSpPr txBox="1"/>
          <p:nvPr/>
        </p:nvSpPr>
        <p:spPr>
          <a:xfrm>
            <a:off x="6492240" y="2870507"/>
            <a:ext cx="4937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server.js  </a:t>
            </a:r>
            <a:r>
              <a:rPr b="0">
                <a:solidFill>
                  <a:srgbClr val="5B6B63"/>
                </a:solidFill>
              </a:rPr>
              <a:t>Connects MongoDB, registers API routes</a:t>
            </a:r>
          </a:p>
        </p:txBody>
      </p:sp>
      <p:sp>
        <p:nvSpPr>
          <p:cNvPr id="183" name="Text 14"/>
          <p:cNvSpPr txBox="1"/>
          <p:nvPr/>
        </p:nvSpPr>
        <p:spPr>
          <a:xfrm>
            <a:off x="6492240" y="3556307"/>
            <a:ext cx="4937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/models/  </a:t>
            </a:r>
            <a:r>
              <a:rPr b="0">
                <a:solidFill>
                  <a:srgbClr val="5B6B63"/>
                </a:solidFill>
              </a:rPr>
              <a:t>User.js, Profile.js, MealPlan.js</a:t>
            </a:r>
          </a:p>
        </p:txBody>
      </p:sp>
      <p:sp>
        <p:nvSpPr>
          <p:cNvPr id="184" name="Text 15"/>
          <p:cNvSpPr txBox="1"/>
          <p:nvPr/>
        </p:nvSpPr>
        <p:spPr>
          <a:xfrm>
            <a:off x="6492240" y="4242107"/>
            <a:ext cx="4937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/controllers/  </a:t>
            </a:r>
            <a:r>
              <a:rPr b="0">
                <a:solidFill>
                  <a:srgbClr val="5B6B63"/>
                </a:solidFill>
              </a:rPr>
              <a:t>authController, profileController, mealPlanController</a:t>
            </a:r>
          </a:p>
        </p:txBody>
      </p:sp>
      <p:sp>
        <p:nvSpPr>
          <p:cNvPr id="185" name="Text 16"/>
          <p:cNvSpPr txBox="1"/>
          <p:nvPr/>
        </p:nvSpPr>
        <p:spPr>
          <a:xfrm>
            <a:off x="6492240" y="4927907"/>
            <a:ext cx="4937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/utils/api.js  </a:t>
            </a:r>
            <a:r>
              <a:rPr b="0">
                <a:solidFill>
                  <a:srgbClr val="5B6B63"/>
                </a:solidFill>
              </a:rPr>
              <a:t>generateMealPlanWithAI() + image fallback logic</a:t>
            </a:r>
          </a:p>
        </p:txBody>
      </p:sp>
      <p:sp>
        <p:nvSpPr>
          <p:cNvPr id="186" name="Text 17"/>
          <p:cNvSpPr txBox="1"/>
          <p:nvPr/>
        </p:nvSpPr>
        <p:spPr>
          <a:xfrm>
            <a:off x="6492240" y="5613707"/>
            <a:ext cx="4937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B4332"/>
                </a:solidFill>
              </a:defRPr>
            </a:pPr>
            <a:r>
              <a:t>.env  </a:t>
            </a:r>
            <a:r>
              <a:rPr b="0">
                <a:solidFill>
                  <a:srgbClr val="5B6B63"/>
                </a:solidFill>
              </a:rPr>
              <a:t>MongoDB URI, Gemini key, Spoonacular key</a:t>
            </a:r>
          </a:p>
        </p:txBody>
      </p:sp>
      <p:sp>
        <p:nvSpPr>
          <p:cNvPr id="187" name="Text 18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DATA MODEL</a:t>
            </a:r>
          </a:p>
        </p:txBody>
      </p:sp>
      <p:sp>
        <p:nvSpPr>
          <p:cNvPr id="190" name="Text 1"/>
          <p:cNvSpPr txBox="1"/>
          <p:nvPr/>
        </p:nvSpPr>
        <p:spPr>
          <a:xfrm>
            <a:off x="548640" y="844041"/>
            <a:ext cx="86868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Three collections drive the whole app</a:t>
            </a:r>
          </a:p>
        </p:txBody>
      </p:sp>
      <p:sp>
        <p:nvSpPr>
          <p:cNvPr id="191" name="Shape 2"/>
          <p:cNvSpPr/>
          <p:nvPr/>
        </p:nvSpPr>
        <p:spPr>
          <a:xfrm>
            <a:off x="640080" y="22860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" name="Text 3"/>
          <p:cNvSpPr txBox="1"/>
          <p:nvPr/>
        </p:nvSpPr>
        <p:spPr>
          <a:xfrm>
            <a:off x="868679" y="2564129"/>
            <a:ext cx="24688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User</a:t>
            </a:r>
          </a:p>
        </p:txBody>
      </p:sp>
      <p:sp>
        <p:nvSpPr>
          <p:cNvPr id="193" name="Shape 4"/>
          <p:cNvSpPr/>
          <p:nvPr/>
        </p:nvSpPr>
        <p:spPr>
          <a:xfrm>
            <a:off x="868679" y="2971800"/>
            <a:ext cx="2468882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" name="Text 5"/>
          <p:cNvSpPr txBox="1"/>
          <p:nvPr/>
        </p:nvSpPr>
        <p:spPr>
          <a:xfrm>
            <a:off x="868679" y="3281987"/>
            <a:ext cx="24688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•  email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868679" y="3739187"/>
            <a:ext cx="24688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•  password (hashed)</a:t>
            </a:r>
          </a:p>
        </p:txBody>
      </p:sp>
      <p:sp>
        <p:nvSpPr>
          <p:cNvPr id="196" name="Shape 7"/>
          <p:cNvSpPr/>
          <p:nvPr/>
        </p:nvSpPr>
        <p:spPr>
          <a:xfrm>
            <a:off x="4617720" y="22860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74C69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Text 8"/>
          <p:cNvSpPr txBox="1"/>
          <p:nvPr/>
        </p:nvSpPr>
        <p:spPr>
          <a:xfrm>
            <a:off x="4846320" y="2564129"/>
            <a:ext cx="24688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0281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Profile</a:t>
            </a:r>
          </a:p>
        </p:txBody>
      </p:sp>
      <p:sp>
        <p:nvSpPr>
          <p:cNvPr id="198" name="Shape 9"/>
          <p:cNvSpPr/>
          <p:nvPr/>
        </p:nvSpPr>
        <p:spPr>
          <a:xfrm>
            <a:off x="4846320" y="2971800"/>
            <a:ext cx="2468881" cy="0"/>
          </a:xfrm>
          <a:prstGeom prst="line">
            <a:avLst/>
          </a:prstGeom>
          <a:ln>
            <a:solidFill>
              <a:srgbClr val="10281D">
                <a:alpha val="6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10"/>
          <p:cNvSpPr txBox="1"/>
          <p:nvPr/>
        </p:nvSpPr>
        <p:spPr>
          <a:xfrm>
            <a:off x="4846320" y="3281987"/>
            <a:ext cx="2468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0281D"/>
                </a:solidFill>
              </a:defRPr>
            </a:lvl1pPr>
          </a:lstStyle>
          <a:p>
            <a:r>
              <a:t>•  age · weight · height</a:t>
            </a:r>
          </a:p>
        </p:txBody>
      </p:sp>
      <p:sp>
        <p:nvSpPr>
          <p:cNvPr id="200" name="Text 11"/>
          <p:cNvSpPr txBox="1"/>
          <p:nvPr/>
        </p:nvSpPr>
        <p:spPr>
          <a:xfrm>
            <a:off x="4846320" y="3739187"/>
            <a:ext cx="2468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0281D"/>
                </a:solidFill>
              </a:defRPr>
            </a:lvl1pPr>
          </a:lstStyle>
          <a:p>
            <a:r>
              <a:t>•  BMR · TDEE (derived)</a:t>
            </a:r>
          </a:p>
        </p:txBody>
      </p:sp>
      <p:sp>
        <p:nvSpPr>
          <p:cNvPr id="201" name="Shape 12"/>
          <p:cNvSpPr/>
          <p:nvPr/>
        </p:nvSpPr>
        <p:spPr>
          <a:xfrm>
            <a:off x="8595359" y="2286000"/>
            <a:ext cx="2926081" cy="2011680"/>
          </a:xfrm>
          <a:prstGeom prst="roundRect">
            <a:avLst>
              <a:gd name="adj" fmla="val 3636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" name="Text 13"/>
          <p:cNvSpPr txBox="1"/>
          <p:nvPr/>
        </p:nvSpPr>
        <p:spPr>
          <a:xfrm>
            <a:off x="8823959" y="2564129"/>
            <a:ext cx="24688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MealPlan</a:t>
            </a:r>
          </a:p>
        </p:txBody>
      </p:sp>
      <p:sp>
        <p:nvSpPr>
          <p:cNvPr id="203" name="Shape 14"/>
          <p:cNvSpPr/>
          <p:nvPr/>
        </p:nvSpPr>
        <p:spPr>
          <a:xfrm>
            <a:off x="8823959" y="2971800"/>
            <a:ext cx="2468881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Text 15"/>
          <p:cNvSpPr txBox="1"/>
          <p:nvPr/>
        </p:nvSpPr>
        <p:spPr>
          <a:xfrm>
            <a:off x="8823959" y="3281987"/>
            <a:ext cx="2468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•  AI-generated JSON</a:t>
            </a:r>
          </a:p>
        </p:txBody>
      </p:sp>
      <p:sp>
        <p:nvSpPr>
          <p:cNvPr id="205" name="Text 16"/>
          <p:cNvSpPr txBox="1"/>
          <p:nvPr/>
        </p:nvSpPr>
        <p:spPr>
          <a:xfrm>
            <a:off x="8823959" y="3739187"/>
            <a:ext cx="2468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•  created timestamp</a:t>
            </a:r>
          </a:p>
        </p:txBody>
      </p:sp>
      <p:sp>
        <p:nvSpPr>
          <p:cNvPr id="206" name="Shape 17"/>
          <p:cNvSpPr/>
          <p:nvPr/>
        </p:nvSpPr>
        <p:spPr>
          <a:xfrm>
            <a:off x="3621023" y="3200400"/>
            <a:ext cx="228601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6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Shape 18"/>
          <p:cNvSpPr/>
          <p:nvPr/>
        </p:nvSpPr>
        <p:spPr>
          <a:xfrm>
            <a:off x="7598664" y="3200400"/>
            <a:ext cx="228601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6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19"/>
          <p:cNvSpPr txBox="1"/>
          <p:nvPr/>
        </p:nvSpPr>
        <p:spPr>
          <a:xfrm>
            <a:off x="640080" y="47221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i="1">
                <a:solidFill>
                  <a:srgbClr val="5B6B63"/>
                </a:solidFill>
              </a:defRPr>
            </a:lvl1pPr>
          </a:lstStyle>
          <a:p>
            <a:r>
              <a:t>1 User → 1 Profile   ·   1 User → many MealPlans</a:t>
            </a:r>
          </a:p>
        </p:txBody>
      </p:sp>
      <p:sp>
        <p:nvSpPr>
          <p:cNvPr id="209" name="Text 22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08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 txBox="1"/>
          <p:nvPr/>
        </p:nvSpPr>
        <p:spPr>
          <a:xfrm>
            <a:off x="548640" y="49306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200">
                <a:solidFill>
                  <a:srgbClr val="FF6B35"/>
                </a:solidFill>
              </a:defRPr>
            </a:lvl1pPr>
          </a:lstStyle>
          <a:p>
            <a:r>
              <a:t>QUALITY</a:t>
            </a:r>
          </a:p>
        </p:txBody>
      </p:sp>
      <p:sp>
        <p:nvSpPr>
          <p:cNvPr id="212" name="Text 1"/>
          <p:cNvSpPr txBox="1"/>
          <p:nvPr/>
        </p:nvSpPr>
        <p:spPr>
          <a:xfrm>
            <a:off x="548640" y="844041"/>
            <a:ext cx="86868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How it was tested</a:t>
            </a:r>
          </a:p>
        </p:txBody>
      </p:sp>
      <p:sp>
        <p:nvSpPr>
          <p:cNvPr id="213" name="Shape 2"/>
          <p:cNvSpPr/>
          <p:nvPr/>
        </p:nvSpPr>
        <p:spPr>
          <a:xfrm>
            <a:off x="502919" y="1965960"/>
            <a:ext cx="3611881" cy="1417321"/>
          </a:xfrm>
          <a:prstGeom prst="roundRect">
            <a:avLst>
              <a:gd name="adj" fmla="val 4516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Shape 3"/>
          <p:cNvSpPr/>
          <p:nvPr/>
        </p:nvSpPr>
        <p:spPr>
          <a:xfrm>
            <a:off x="685800" y="2148839"/>
            <a:ext cx="320041" cy="320041"/>
          </a:xfrm>
          <a:prstGeom prst="roundRect">
            <a:avLst>
              <a:gd name="adj" fmla="val 17143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Text 4"/>
          <p:cNvSpPr txBox="1"/>
          <p:nvPr/>
        </p:nvSpPr>
        <p:spPr>
          <a:xfrm>
            <a:off x="685800" y="2200910"/>
            <a:ext cx="3200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✓</a:t>
            </a:r>
          </a:p>
        </p:txBody>
      </p:sp>
      <p:sp>
        <p:nvSpPr>
          <p:cNvPr id="216" name="Text 5"/>
          <p:cNvSpPr txBox="1"/>
          <p:nvPr/>
        </p:nvSpPr>
        <p:spPr>
          <a:xfrm>
            <a:off x="1143000" y="2199894"/>
            <a:ext cx="2788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Unit Testing</a:t>
            </a:r>
          </a:p>
        </p:txBody>
      </p:sp>
      <p:sp>
        <p:nvSpPr>
          <p:cNvPr id="217" name="Text 6"/>
          <p:cNvSpPr txBox="1"/>
          <p:nvPr/>
        </p:nvSpPr>
        <p:spPr>
          <a:xfrm>
            <a:off x="685799" y="2811579"/>
            <a:ext cx="3246122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Login, profile save &amp; plan generation each tested against valid + invalid inputs</a:t>
            </a:r>
          </a:p>
        </p:txBody>
      </p:sp>
      <p:sp>
        <p:nvSpPr>
          <p:cNvPr id="218" name="Shape 7"/>
          <p:cNvSpPr/>
          <p:nvPr/>
        </p:nvSpPr>
        <p:spPr>
          <a:xfrm>
            <a:off x="4297679" y="1965960"/>
            <a:ext cx="3611881" cy="1417321"/>
          </a:xfrm>
          <a:prstGeom prst="roundRect">
            <a:avLst>
              <a:gd name="adj" fmla="val 4516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" name="Shape 8"/>
          <p:cNvSpPr/>
          <p:nvPr/>
        </p:nvSpPr>
        <p:spPr>
          <a:xfrm>
            <a:off x="4480559" y="2148839"/>
            <a:ext cx="320041" cy="320041"/>
          </a:xfrm>
          <a:prstGeom prst="roundRect">
            <a:avLst>
              <a:gd name="adj" fmla="val 17143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Text 9"/>
          <p:cNvSpPr txBox="1"/>
          <p:nvPr/>
        </p:nvSpPr>
        <p:spPr>
          <a:xfrm>
            <a:off x="4480559" y="2200910"/>
            <a:ext cx="3200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✓</a:t>
            </a:r>
          </a:p>
        </p:txBody>
      </p:sp>
      <p:sp>
        <p:nvSpPr>
          <p:cNvPr id="221" name="Text 10"/>
          <p:cNvSpPr txBox="1"/>
          <p:nvPr/>
        </p:nvSpPr>
        <p:spPr>
          <a:xfrm>
            <a:off x="4937759" y="2199894"/>
            <a:ext cx="2788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Integration Testing</a:t>
            </a:r>
          </a:p>
        </p:txBody>
      </p:sp>
      <p:sp>
        <p:nvSpPr>
          <p:cNvPr id="222" name="Text 11"/>
          <p:cNvSpPr txBox="1"/>
          <p:nvPr/>
        </p:nvSpPr>
        <p:spPr>
          <a:xfrm>
            <a:off x="4480559" y="2811579"/>
            <a:ext cx="324612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Profile save → plan generation → history save verified end-to-end</a:t>
            </a:r>
          </a:p>
        </p:txBody>
      </p:sp>
      <p:sp>
        <p:nvSpPr>
          <p:cNvPr id="223" name="Shape 12"/>
          <p:cNvSpPr/>
          <p:nvPr/>
        </p:nvSpPr>
        <p:spPr>
          <a:xfrm>
            <a:off x="8092440" y="1965960"/>
            <a:ext cx="3611881" cy="1417321"/>
          </a:xfrm>
          <a:prstGeom prst="roundRect">
            <a:avLst>
              <a:gd name="adj" fmla="val 4516"/>
            </a:avLst>
          </a:prstGeom>
          <a:solidFill>
            <a:srgbClr val="EEF5F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Shape 13"/>
          <p:cNvSpPr/>
          <p:nvPr/>
        </p:nvSpPr>
        <p:spPr>
          <a:xfrm>
            <a:off x="8275319" y="2148839"/>
            <a:ext cx="320041" cy="320041"/>
          </a:xfrm>
          <a:prstGeom prst="roundRect">
            <a:avLst>
              <a:gd name="adj" fmla="val 17143"/>
            </a:avLst>
          </a:prstGeom>
          <a:solidFill>
            <a:srgbClr val="1B433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14"/>
          <p:cNvSpPr txBox="1"/>
          <p:nvPr/>
        </p:nvSpPr>
        <p:spPr>
          <a:xfrm>
            <a:off x="8275319" y="2200910"/>
            <a:ext cx="3200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✓</a:t>
            </a:r>
          </a:p>
        </p:txBody>
      </p:sp>
      <p:sp>
        <p:nvSpPr>
          <p:cNvPr id="226" name="Text 15"/>
          <p:cNvSpPr txBox="1"/>
          <p:nvPr/>
        </p:nvSpPr>
        <p:spPr>
          <a:xfrm>
            <a:off x="8732519" y="2199894"/>
            <a:ext cx="2788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System Testing</a:t>
            </a:r>
          </a:p>
        </p:txBody>
      </p:sp>
      <p:sp>
        <p:nvSpPr>
          <p:cNvPr id="227" name="Text 16"/>
          <p:cNvSpPr txBox="1"/>
          <p:nvPr/>
        </p:nvSpPr>
        <p:spPr>
          <a:xfrm>
            <a:off x="8275319" y="2811579"/>
            <a:ext cx="324612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B6B63"/>
                </a:solidFill>
              </a:defRPr>
            </a:lvl1pPr>
          </a:lstStyle>
          <a:p>
            <a:r>
              <a:t>Every page — Home, Login, Dashboard, Meal Plans, History — tested together</a:t>
            </a:r>
          </a:p>
        </p:txBody>
      </p:sp>
      <p:sp>
        <p:nvSpPr>
          <p:cNvPr id="228" name="Text 32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63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-1645921" y="3840479"/>
            <a:ext cx="4572001" cy="4572001"/>
          </a:xfrm>
          <a:prstGeom prst="ellipse">
            <a:avLst/>
          </a:prstGeom>
          <a:solidFill>
            <a:srgbClr val="10281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Shape 1"/>
          <p:cNvSpPr/>
          <p:nvPr/>
        </p:nvSpPr>
        <p:spPr>
          <a:xfrm>
            <a:off x="10424159" y="-1280161"/>
            <a:ext cx="3657601" cy="3657601"/>
          </a:xfrm>
          <a:prstGeom prst="ellipse">
            <a:avLst/>
          </a:prstGeom>
          <a:solidFill>
            <a:srgbClr val="74C69D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" name="Text 3"/>
          <p:cNvSpPr txBox="1"/>
          <p:nvPr/>
        </p:nvSpPr>
        <p:spPr>
          <a:xfrm>
            <a:off x="777240" y="2785348"/>
            <a:ext cx="914400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Thank You</a:t>
            </a:r>
          </a:p>
        </p:txBody>
      </p:sp>
      <p:sp>
        <p:nvSpPr>
          <p:cNvPr id="233" name="Shape 5"/>
          <p:cNvSpPr/>
          <p:nvPr/>
        </p:nvSpPr>
        <p:spPr>
          <a:xfrm>
            <a:off x="822960" y="4846320"/>
            <a:ext cx="1463041" cy="1"/>
          </a:xfrm>
          <a:prstGeom prst="line">
            <a:avLst/>
          </a:prstGeom>
          <a:ln w="38100">
            <a:solidFill>
              <a:srgbClr val="FF6B3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ext 6"/>
          <p:cNvSpPr txBox="1"/>
          <p:nvPr/>
        </p:nvSpPr>
        <p:spPr>
          <a:xfrm>
            <a:off x="822960" y="5174419"/>
            <a:ext cx="9144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t>Anjali Rani</a:t>
            </a:r>
          </a:p>
        </p:txBody>
      </p:sp>
      <p:sp>
        <p:nvSpPr>
          <p:cNvPr id="235" name="Text 7"/>
          <p:cNvSpPr txBox="1"/>
          <p:nvPr/>
        </p:nvSpPr>
        <p:spPr>
          <a:xfrm>
            <a:off x="11475719" y="6542576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Sukhshinder Singh</cp:lastModifiedBy>
  <cp:revision>1</cp:revision>
  <dcterms:modified xsi:type="dcterms:W3CDTF">2026-07-15T03:16:00Z</dcterms:modified>
</cp:coreProperties>
</file>